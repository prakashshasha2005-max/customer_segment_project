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53E"/>
              </a:solidFill>
              <a:effectLst/>
            </c:spPr>
          </c:dPt>
          <c:dPt>
            <c:idx val="1"/>
            <c:bubble3D val="0"/>
            <c:spPr>
              <a:solidFill>
                <a:srgbClr val="2A357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620</c:v>
                </c:pt>
                <c:pt idx="1">
                  <c:v>380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E855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5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357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1320000</c:v>
                </c:pt>
                <c:pt idx="1">
                  <c:v>1050000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35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5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82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46-60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310</c:v>
                </c:pt>
                <c:pt idx="2">
                  <c:v>240</c:v>
                </c:pt>
                <c:pt idx="3">
                  <c:v>190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bubble3D val="0"/>
            <c:spPr>
              <a:solidFill>
                <a:srgbClr val="2A3575"/>
              </a:solidFill>
              <a:effectLst/>
            </c:spPr>
          </c:dPt>
          <c:dPt>
            <c:idx val="3"/>
            <c:bubble3D val="0"/>
            <c:spPr>
              <a:solidFill>
                <a:srgbClr val="E8553E"/>
              </a:solidFill>
              <a:effectLst/>
            </c:spPr>
          </c:dPt>
          <c:dPt>
            <c:idx val="4"/>
            <c:bubble3D val="0"/>
            <c:spPr>
              <a:solidFill>
                <a:srgbClr val="F4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46-60</c:v>
                </c:pt>
                <c:pt idx="4">
                  <c:v>60+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430000</c:v>
                </c:pt>
                <c:pt idx="1">
                  <c:v>720000</c:v>
                </c:pt>
                <c:pt idx="2">
                  <c:v>560000</c:v>
                </c:pt>
                <c:pt idx="3">
                  <c:v>440000</c:v>
                </c:pt>
                <c:pt idx="4">
                  <c:v>220000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55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Footwear</c:v>
                  </c:pt>
                  <c:pt idx="3">
                    <c:v>Beauty</c:v>
                  </c:pt>
                  <c:pt idx="4">
                    <c:v>Grocery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430</c:v>
                </c:pt>
                <c:pt idx="1">
                  <c:v>210</c:v>
                </c:pt>
                <c:pt idx="2">
                  <c:v>180</c:v>
                </c:pt>
                <c:pt idx="3">
                  <c:v>290</c:v>
                </c:pt>
                <c:pt idx="4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2A35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Footwear</c:v>
                  </c:pt>
                  <c:pt idx="3">
                    <c:v>Beauty</c:v>
                  </c:pt>
                  <c:pt idx="4">
                    <c:v>Grocery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250</c:v>
                </c:pt>
                <c:pt idx="1">
                  <c:v>310</c:v>
                </c:pt>
                <c:pt idx="2">
                  <c:v>200</c:v>
                </c:pt>
                <c:pt idx="3">
                  <c:v>90</c:v>
                </c:pt>
                <c:pt idx="4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18-25</c:v>
                </c:pt>
              </c:strCache>
            </c:strRef>
          </c:tx>
          <c:spPr>
            <a:solidFill>
              <a:srgbClr val="02A8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Footwear</c:v>
                  </c:pt>
                  <c:pt idx="3">
                    <c:v>Beauty</c:v>
                  </c:pt>
                  <c:pt idx="4">
                    <c:v>Grocery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40</c:v>
                </c:pt>
                <c:pt idx="2">
                  <c:v>30</c:v>
                </c:pt>
                <c:pt idx="3">
                  <c:v>35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26-35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Footwear</c:v>
                  </c:pt>
                  <c:pt idx="3">
                    <c:v>Beauty</c:v>
                  </c:pt>
                  <c:pt idx="4">
                    <c:v>Grocery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</c:v>
                </c:pt>
                <c:pt idx="1">
                  <c:v>75</c:v>
                </c:pt>
                <c:pt idx="2">
                  <c:v>60</c:v>
                </c:pt>
                <c:pt idx="3">
                  <c:v>55</c:v>
                </c:pt>
                <c:pt idx="4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36-45</c:v>
                </c:pt>
              </c:strCache>
            </c:strRef>
          </c:tx>
          <c:spPr>
            <a:solidFill>
              <a:srgbClr val="E855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Footwear</c:v>
                  </c:pt>
                  <c:pt idx="3">
                    <c:v>Beauty</c:v>
                  </c:pt>
                  <c:pt idx="4">
                    <c:v>Grocery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65</c:v>
                </c:pt>
                <c:pt idx="1">
                  <c:v>60</c:v>
                </c:pt>
                <c:pt idx="2">
                  <c:v>50</c:v>
                </c:pt>
                <c:pt idx="3">
                  <c:v>45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53E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02A8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420</c:v>
                </c:pt>
                <c:pt idx="1">
                  <c:v>366</c:v>
                </c:pt>
                <c:pt idx="2">
                  <c:v>214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55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Cash</c:v>
                  </c:pt>
                  <c:pt idx="1">
                    <c:v>Credit Card</c:v>
                  </c:pt>
                  <c:pt idx="2">
                    <c:v>Debit Card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270</c:v>
                </c:pt>
                <c:pt idx="1">
                  <c:v>210</c:v>
                </c:pt>
                <c:pt idx="2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2A35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Cash</c:v>
                  </c:pt>
                  <c:pt idx="1">
                    <c:v>Credit Card</c:v>
                  </c:pt>
                  <c:pt idx="2">
                    <c:v>Debit Card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</c:v>
                </c:pt>
                <c:pt idx="1">
                  <c:v>156</c:v>
                </c:pt>
                <c:pt idx="2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(₹ '000)</c:v>
                </c:pt>
              </c:strCache>
            </c:strRef>
          </c:tx>
          <c:spPr>
            <a:solidFill>
              <a:srgbClr val="E855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1320</c:v>
                </c:pt>
                <c:pt idx="1">
                  <c:v>1050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620</c:v>
                </c:pt>
                <c:pt idx="1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E855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46-60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130</c:v>
                </c:pt>
                <c:pt idx="2">
                  <c:v>110</c:v>
                </c:pt>
                <c:pt idx="3">
                  <c:v>80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46-60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100</c:v>
                </c:pt>
                <c:pt idx="2">
                  <c:v>90</c:v>
                </c:pt>
                <c:pt idx="3">
                  <c:v>80</c:v>
                </c:pt>
                <c:pt idx="4">
                  <c:v>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Debit Card</c:v>
                </c:pt>
              </c:strCache>
            </c:strRef>
          </c:tx>
          <c:spPr>
            <a:solidFill>
              <a:srgbClr val="02A8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46-60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50</c:v>
                </c:pt>
                <c:pt idx="1">
                  <c:v>80</c:v>
                </c:pt>
                <c:pt idx="2">
                  <c:v>40</c:v>
                </c:pt>
                <c:pt idx="3">
                  <c:v>30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REPORT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486400" cy="36576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• Age • Category • Payment Method — Insights &amp; Recommendations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2468880" cy="1188720"/>
          </a:xfrm>
          <a:prstGeom prst="rect">
            <a:avLst/>
          </a:prstGeom>
          <a:solidFill>
            <a:srgbClr val="2A3575"/>
          </a:solidFill>
          <a:ln w="12700">
            <a:solidFill>
              <a:srgbClr val="2A35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₹2.37M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246120"/>
            <a:ext cx="2468880" cy="1188720"/>
          </a:xfrm>
          <a:prstGeom prst="rect">
            <a:avLst/>
          </a:prstGeom>
          <a:solidFill>
            <a:srgbClr val="2A3575"/>
          </a:solidFill>
          <a:ln w="12700">
            <a:solidFill>
              <a:srgbClr val="2A35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246120"/>
            <a:ext cx="2468880" cy="1188720"/>
          </a:xfrm>
          <a:prstGeom prst="rect">
            <a:avLst/>
          </a:prstGeom>
          <a:solidFill>
            <a:srgbClr val="2A3575"/>
          </a:solidFill>
          <a:ln w="12700">
            <a:solidFill>
              <a:srgbClr val="2A35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141A4A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825"/>
                </a:solidFill>
              </a:rPr>
              <a:t>TEAM ID: PTID-CDA-APR-26-11114   |   COURSE: CDA   |   MEMBER: Prakash. 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GENDER-WISE SHOPPING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89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Q1 · Q2 · Q3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Orders by Gender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" y="8686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594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Total Sales by Gender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868680"/>
          <a:ext cx="44805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65760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5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28600" y="3657600"/>
            <a:ext cx="2834640" cy="7315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Orders Split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20040" y="4069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3E"/>
                </a:solidFill>
              </a:rPr>
              <a:t>62% Female / 38% Male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00400" y="365760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5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3657600"/>
            <a:ext cx="2834640" cy="7315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More Products Sold To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91840" y="4069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3E"/>
                </a:solidFill>
              </a:rPr>
              <a:t>Female Customers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72200" y="365760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3657600"/>
            <a:ext cx="28346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6364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Higher Revenue From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263640" y="4069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Female Customers (~56%)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SHOPPING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89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Q5 · Q6 · Q7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Orders by Age Group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" y="86868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30352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Revenue by Age Group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120640" y="82296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182880" y="36576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A8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82880" y="3657600"/>
            <a:ext cx="73152" cy="594360"/>
          </a:xfrm>
          <a:prstGeom prst="rect">
            <a:avLst/>
          </a:prstGeom>
          <a:solidFill>
            <a:srgbClr val="02A8A8"/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472" y="3694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Largest Age Segment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47472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A8A8"/>
                </a:solidFill>
              </a:rPr>
              <a:t>26–35 years (31% of orders)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36576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657600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28032" y="3694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Most Products Sold To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28032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26–35 Age Group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82880" y="43434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53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82880" y="4343400"/>
            <a:ext cx="73152" cy="59436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7472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Highest Revenue From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" y="4617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53E"/>
                </a:solidFill>
              </a:rPr>
              <a:t>26–35 Age Group (~30%)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63440" y="43434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63440" y="4343400"/>
            <a:ext cx="7315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28032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Lowest Engagement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28032" y="4617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60+ Age Group (8%)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CATEGORY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89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Q4 · Q8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Category Sales by Gender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" y="86868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30352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Category Orders by Age Group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212080" y="868680"/>
          <a:ext cx="37490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182880" y="3611880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28600" y="36301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25"/>
                </a:solidFill>
              </a:rPr>
              <a:t>★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" y="3639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Clothing is the top category overall, especially among female shoppers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82880" y="4105656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28600" y="4123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25"/>
                </a:solidFill>
              </a:rPr>
              <a:t>★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" y="41330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Electronics leads among Male buyers, particularly in 26-45 age groups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" y="4599432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28600" y="4617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25"/>
                </a:solidFill>
              </a:rPr>
              <a:t>★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Beauty products skew heavily female; Footwear is balanced across gender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89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Q9 · Q10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Orders by Payment Method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" y="8686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594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Payment Method by Gender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80560" y="868680"/>
          <a:ext cx="44805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53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28600" y="3657600"/>
            <a:ext cx="2743200" cy="6400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Cash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0040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53E"/>
                </a:solidFill>
              </a:rPr>
              <a:t>42%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2004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Most preferred method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54680" y="3657600"/>
            <a:ext cx="2743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461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Credit Card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246120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36.6%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324612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Popular for larger purchases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8076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A8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0760" y="3657600"/>
            <a:ext cx="2743200" cy="64008"/>
          </a:xfrm>
          <a:prstGeom prst="rect">
            <a:avLst/>
          </a:prstGeom>
          <a:solidFill>
            <a:srgbClr val="02A8A8"/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72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Debit Card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72200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A8A8"/>
                </a:solidFill>
              </a:rPr>
              <a:t>21.4%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617220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Least used method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KEY VISUALIZATIONS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Q11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Sales &amp; Orders Overview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" y="86868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30352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Orders: Age Group vs Payment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212080" y="868680"/>
          <a:ext cx="3749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182880" y="34747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Dashboard Visualizations Implemented in Power BI: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74320" y="3749040"/>
            <a:ext cx="85953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KPI Cards: Total Sales (₹2.37M), Orders (1,000), Quantity (2,981)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Donut Chart: Order distribution by Gender (62% F / 38% 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Bar Charts: Sales, Orders &amp; Quantity by Gender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100% Stacked Bar: Category sales by Gender &amp; Payment method by Gender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Age Group slicer for dynamic filtering across all visuals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298448"/>
          </a:xfrm>
          <a:prstGeom prst="rect">
            <a:avLst/>
          </a:prstGeom>
          <a:solidFill>
            <a:srgbClr val="2A3575"/>
          </a:solidFill>
          <a:ln w="12700">
            <a:solidFill>
              <a:srgbClr val="E85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502920" cy="129844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" y="120700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3E"/>
                </a:solidFill>
              </a:rPr>
              <a:t>Target Female Shoppers More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435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With 62% orders &amp; 56% revenue from females, invest in female-focused campaigns, loyalty programs, and personalized recommendations.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1298448"/>
          </a:xfrm>
          <a:prstGeom prst="rect">
            <a:avLst/>
          </a:prstGeom>
          <a:solidFill>
            <a:srgbClr val="2A3575"/>
          </a:solidFill>
          <a:ln w="12700">
            <a:solidFill>
              <a:srgbClr val="F4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502920" cy="1298448"/>
          </a:xfrm>
          <a:prstGeom prst="rect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20700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89611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25"/>
                </a:solidFill>
              </a:rPr>
              <a:t>Capitalize on the 26–35 Segment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2435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This age group drives the most orders and revenue. Offer subscription plans, EMI options, and app-exclusive deals tailored to this group.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240280"/>
            <a:ext cx="4206240" cy="1298448"/>
          </a:xfrm>
          <a:prstGeom prst="rect">
            <a:avLst/>
          </a:prstGeom>
          <a:solidFill>
            <a:srgbClr val="2A3575"/>
          </a:solidFill>
          <a:ln w="12700">
            <a:solidFill>
              <a:srgbClr val="02A8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40280"/>
            <a:ext cx="502920" cy="1298448"/>
          </a:xfrm>
          <a:prstGeom prst="rect">
            <a:avLst/>
          </a:prstGeom>
          <a:solidFill>
            <a:srgbClr val="02A8A8"/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" y="262432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3134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A8A8"/>
                </a:solidFill>
              </a:rPr>
              <a:t>Expand Clothing &amp; Electronics Lines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Top two revenue-generating categories. Seasonal promotions, bundle deals, and influencer marketing can amplify sales further.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4206240" cy="1298448"/>
          </a:xfrm>
          <a:prstGeom prst="rect">
            <a:avLst/>
          </a:prstGeom>
          <a:solidFill>
            <a:srgbClr val="2A357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40280"/>
            <a:ext cx="502920" cy="12984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262432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23134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Promote Digital Payments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66090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Cash leads at 42%, but Credit Cards are close. Incentivize card payments via cashback to improve transaction traceability and reduce cash handling.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4206240" cy="1298448"/>
          </a:xfrm>
          <a:prstGeom prst="rect">
            <a:avLst/>
          </a:prstGeom>
          <a:solidFill>
            <a:srgbClr val="2A3575"/>
          </a:solidFill>
          <a:ln w="12700">
            <a:solidFill>
              <a:srgbClr val="C95F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57600"/>
            <a:ext cx="502920" cy="1298448"/>
          </a:xfrm>
          <a:prstGeom prst="rect">
            <a:avLst/>
          </a:prstGeom>
          <a:solidFill>
            <a:srgbClr val="C95F8B"/>
          </a:solidFill>
          <a:ln w="12700">
            <a:solidFill>
              <a:srgbClr val="C95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" y="404164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373075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F8B"/>
                </a:solidFill>
              </a:rPr>
              <a:t>Re-engage the 60+ Segment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07822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Only 8% of orders. Simplify UX, offer assisted shopping, and address accessibility concerns to grow this underserved demographic.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4206240" cy="1298448"/>
          </a:xfrm>
          <a:prstGeom prst="rect">
            <a:avLst/>
          </a:prstGeom>
          <a:solidFill>
            <a:srgbClr val="2A3575"/>
          </a:solidFill>
          <a:ln w="12700">
            <a:solidFill>
              <a:srgbClr val="F4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57600"/>
            <a:ext cx="502920" cy="1298448"/>
          </a:xfrm>
          <a:prstGeom prst="rect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404164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373075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25"/>
                </a:solidFill>
              </a:rPr>
              <a:t>Beauty &amp; Wellness Cross-Sell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407822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Beauty is predominantly female. Bundle beauty products with clothing to increase basket size and leverage existing female shopper base.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4572000" cy="36576"/>
          </a:xfrm>
          <a:prstGeom prst="rect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321040" cy="3291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are the primary revenue and order drivers — a segment worth deepening.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26–35 age group is the sweet spot for volume and revenue; targeted strategies here will yield the best ROI.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Electronics are the flagship categories — seasonal offers and exclusives can boost margins.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dominance indicates a partially unbanked audience; introducing UPI/wallet incentives could accelerate digital adoption.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segments (46+) present an untapped growth opportunity if friction in the shopping experience is reduced.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enable real-time monitoring of these KPIs, supporting agile business decisions.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8321040" cy="548640"/>
          </a:xfrm>
          <a:prstGeom prst="rect">
            <a:avLst/>
          </a:prstGeom>
          <a:solidFill>
            <a:srgbClr val="141A4A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825"/>
                </a:solidFill>
              </a:rPr>
              <a:t>TEAM ID: PTID-CDA-APR-26-11114   |   COURSE: CDA   |   MEMBER: Prakash. 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Behavior Analytics Report</dc:title>
  <dc:subject>PptxGenJS Presentation</dc:subject>
  <dc:creator>PptxGenJS</dc:creator>
  <cp:lastModifiedBy>PptxGenJS</cp:lastModifiedBy>
  <cp:revision>1</cp:revision>
  <dcterms:created xsi:type="dcterms:W3CDTF">2026-04-27T03:34:06Z</dcterms:created>
  <dcterms:modified xsi:type="dcterms:W3CDTF">2026-04-27T03:34:06Z</dcterms:modified>
</cp:coreProperties>
</file>